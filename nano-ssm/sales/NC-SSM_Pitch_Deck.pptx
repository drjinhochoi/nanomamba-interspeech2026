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828800"/>
            <a:ext cx="73152" cy="1645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41148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63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AI on a $5 Chip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Noise-Conditioned State Space Model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Edge Keyword Spotting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</a:t>
            </a:r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2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CES 2027</a:t>
            </a:r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pPr indent="0" marL="0">
              <a:buNone/>
            </a:pPr>
            <a:r>
              <a:rPr lang="en-US" sz="12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Patent Pending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AI is broken at the 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Expensive Hardware: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voice AI requires powerful processors, driving up BOM cost and power budget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Failure: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trained in clean conditions collapse in real-world noise (factory, car, kitchen)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Latency: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DS-CNN-S: 24K params, 53ms latency -- too slow for real-time interaction on MCUs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Hungry: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listening drains batteries -- CNNs process every frame even during silence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Streaming: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Conventional models need the full 1-second window before detection begins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FF525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FF5252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5468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DS-CNN-S Params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212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FF5252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196KB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Feature Maps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FF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66.3%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0956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@ 0dB SNR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noise robustness -- no denoising module needed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SSM Architecture: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Space Models process sequences with O(1) memory per step -- ideal for streaming on MCUs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Noise-Conditioning: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mechanisms that adapt model dynamics in real-time based on per-band SNR estimates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Overhead: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separate denoising module, no extra MACs -- noise robustness is built into the architecture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Silence Efficiency: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SSM state update costs 0 MACs during silence, enabling 10x battery life improvement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Native: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~350ms detection for short keywords vs 1053ms for CNN -- instant wake-word response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 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5468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212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720B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3212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State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9560" y="4846320"/>
            <a:ext cx="219456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4846320"/>
            <a:ext cx="219456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4983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77.7%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0956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@ 0dB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 Architecture: End-to-End Noise-Conditioned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55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 Audio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2331720"/>
            <a:ext cx="173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555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2331720"/>
            <a:ext cx="173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55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40-band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10912" y="2331720"/>
            <a:ext cx="173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73952" y="2331720"/>
            <a:ext cx="173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DualPCEN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36992" y="2331720"/>
            <a:ext cx="173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244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x2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00032" y="2331720"/>
            <a:ext cx="173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555480" y="2194560"/>
            <a:ext cx="1325880" cy="777240"/>
          </a:xfrm>
          <a:prstGeom prst="rect">
            <a:avLst>
              <a:gd name="adj" fmla="val 7059"/>
            </a:avLst>
          </a:prstGeom>
          <a:solidFill>
            <a:srgbClr val="12121A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21945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383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Noise-Conditioning Mechanisms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7240" y="3931920"/>
            <a:ext cx="192024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931920"/>
            <a:ext cx="19202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23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Sub-band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Selectivity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Per-frequency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gating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3931920"/>
            <a:ext cx="192024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34" name="Shape 32"/>
          <p:cNvSpPr/>
          <p:nvPr/>
        </p:nvSpPr>
        <p:spPr>
          <a:xfrm>
            <a:off x="2834640" y="3931920"/>
            <a:ext cx="19202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35" name="Text 33"/>
          <p:cNvSpPr/>
          <p:nvPr/>
        </p:nvSpPr>
        <p:spPr>
          <a:xfrm>
            <a:off x="2834640" y="4023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Delta Floor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noise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 estimation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92040" y="3931920"/>
            <a:ext cx="192024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3931920"/>
            <a:ext cx="19202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4023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B-base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SSM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scaling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3931920"/>
            <a:ext cx="192024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42" name="Shape 40"/>
          <p:cNvSpPr/>
          <p:nvPr/>
        </p:nvSpPr>
        <p:spPr>
          <a:xfrm>
            <a:off x="6949440" y="3931920"/>
            <a:ext cx="19202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0" y="4023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Spectral Gate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SNR-driven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masking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006840" y="3931920"/>
            <a:ext cx="192024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46" name="Shape 44"/>
          <p:cNvSpPr/>
          <p:nvPr/>
        </p:nvSpPr>
        <p:spPr>
          <a:xfrm>
            <a:off x="9006840" y="3931920"/>
            <a:ext cx="192024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47" name="Text 45"/>
          <p:cNvSpPr/>
          <p:nvPr/>
        </p:nvSpPr>
        <p:spPr>
          <a:xfrm>
            <a:off x="9006840" y="4023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Subtraction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4663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spectrum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Benchmarks on Google Speech Commands v2 (12-class)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2560320" cy="41148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1371600" cy="41148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1371600" cy="41148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1280160" cy="41148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2286000"/>
            <a:ext cx="1280160" cy="41148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0" y="2286000"/>
            <a:ext cx="1371600" cy="41148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0dB SNR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2743200"/>
            <a:ext cx="2560320" cy="438912"/>
          </a:xfrm>
          <a:prstGeom prst="rect">
            <a:avLst/>
          </a:prstGeom>
          <a:solidFill>
            <a:srgbClr val="15151F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DS-CNN-S (baseline)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743200"/>
            <a:ext cx="1371600" cy="438912"/>
          </a:xfrm>
          <a:prstGeom prst="rect">
            <a:avLst/>
          </a:prstGeom>
          <a:solidFill>
            <a:srgbClr val="15151F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743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24,000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743200"/>
            <a:ext cx="1371600" cy="438912"/>
          </a:xfrm>
          <a:prstGeom prst="rect">
            <a:avLst/>
          </a:prstGeom>
          <a:solidFill>
            <a:srgbClr val="15151F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743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5.4M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743200"/>
            <a:ext cx="1280160" cy="438912"/>
          </a:xfrm>
          <a:prstGeom prst="rect">
            <a:avLst/>
          </a:prstGeom>
          <a:solidFill>
            <a:srgbClr val="15151F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743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2743200"/>
            <a:ext cx="1280160" cy="438912"/>
          </a:xfrm>
          <a:prstGeom prst="rect">
            <a:avLst/>
          </a:prstGeom>
          <a:solidFill>
            <a:srgbClr val="15151F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27432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2743200"/>
            <a:ext cx="1371600" cy="438912"/>
          </a:xfrm>
          <a:prstGeom prst="rect">
            <a:avLst/>
          </a:prstGeom>
          <a:solidFill>
            <a:srgbClr val="15151F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2743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66.3%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3246120"/>
            <a:ext cx="256032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246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 (ours)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3246120"/>
            <a:ext cx="137160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2461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3246120"/>
            <a:ext cx="137160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2461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3246120"/>
            <a:ext cx="128016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246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3246120"/>
            <a:ext cx="128016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3800" y="324612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95.3%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3246120"/>
            <a:ext cx="137160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32461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77.7%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" y="3749040"/>
            <a:ext cx="256032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37490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NC-SSM-20K (ours)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83280" y="3749040"/>
            <a:ext cx="137160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7490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20,000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00600" y="3749040"/>
            <a:ext cx="137160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7490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2.44M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3749040"/>
            <a:ext cx="128016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7490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10.4ms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543800" y="3749040"/>
            <a:ext cx="128016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43800" y="37490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96.4%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69680" y="3749040"/>
            <a:ext cx="1371600" cy="438912"/>
          </a:xfrm>
          <a:prstGeom prst="rect">
            <a:avLst/>
          </a:prstGeom>
          <a:solidFill>
            <a:srgbClr val="0E0E18"/>
          </a:solidFill>
          <a:ln w="6350">
            <a:solidFill>
              <a:srgbClr val="2222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69680" y="37490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77240" y="4754880"/>
            <a:ext cx="292608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4754880"/>
            <a:ext cx="292608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4892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 less latency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77240" y="5349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DS-CNN-S at matched accuracy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931920" y="4754880"/>
            <a:ext cx="292608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61" name="Shape 59"/>
          <p:cNvSpPr/>
          <p:nvPr/>
        </p:nvSpPr>
        <p:spPr>
          <a:xfrm>
            <a:off x="3931920" y="4754880"/>
            <a:ext cx="292608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62" name="Text 60"/>
          <p:cNvSpPr/>
          <p:nvPr/>
        </p:nvSpPr>
        <p:spPr>
          <a:xfrm>
            <a:off x="3931920" y="4892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 fewer MACs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3931920" y="5349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NC-SSM-20K vs DS-CNN-S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86600" y="4754880"/>
            <a:ext cx="2926080" cy="1005840"/>
          </a:xfrm>
          <a:prstGeom prst="rect">
            <a:avLst>
              <a:gd name="adj" fmla="val 7273"/>
            </a:avLst>
          </a:prstGeom>
          <a:solidFill>
            <a:srgbClr val="12121A"/>
          </a:solidFill>
          <a:ln/>
        </p:spPr>
      </p:sp>
      <p:sp>
        <p:nvSpPr>
          <p:cNvPr id="65" name="Shape 63"/>
          <p:cNvSpPr/>
          <p:nvPr/>
        </p:nvSpPr>
        <p:spPr>
          <a:xfrm>
            <a:off x="7086600" y="4754880"/>
            <a:ext cx="2926080" cy="32004"/>
          </a:xfrm>
          <a:prstGeom prst="rect">
            <a:avLst>
              <a:gd name="adj" fmla="val 57143"/>
            </a:avLst>
          </a:prstGeom>
          <a:solidFill>
            <a:srgbClr val="7C4DFF"/>
          </a:solidFill>
          <a:ln/>
        </p:spPr>
      </p:sp>
      <p:sp>
        <p:nvSpPr>
          <p:cNvPr id="66" name="Text 64"/>
          <p:cNvSpPr/>
          <p:nvPr/>
        </p:nvSpPr>
        <p:spPr>
          <a:xfrm>
            <a:off x="7086600" y="4892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+11.4% @ 0dB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7086600" y="5349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robustness (clean-trained)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NC-SSM wins at the edge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466344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94560"/>
            <a:ext cx="45720" cy="1463040"/>
          </a:xfrm>
          <a:prstGeom prst="rect">
            <a:avLst>
              <a:gd name="adj" fmla="val 60000"/>
            </a:avLst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Noise Robustness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KWS model with formal structural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robustness proof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2194560"/>
            <a:ext cx="466344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2194560"/>
            <a:ext cx="45720" cy="1463040"/>
          </a:xfrm>
          <a:prstGeom prst="rect">
            <a:avLst>
              <a:gd name="adj" fmla="val 60000"/>
            </a:avLst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Streaming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~350ms detection for short words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1053ms for CNN (3x faster)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466344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886200"/>
            <a:ext cx="45720" cy="1463040"/>
          </a:xfrm>
          <a:prstGeom prst="rect">
            <a:avLst>
              <a:gd name="adj" fmla="val 60000"/>
            </a:avLst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720 Bytes State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4348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720 bytes hidden state vs 196KB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feature maps (272x smaller)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3886200"/>
            <a:ext cx="4663440" cy="1463040"/>
          </a:xfrm>
          <a:prstGeom prst="rect">
            <a:avLst>
              <a:gd name="adj" fmla="val 5000"/>
            </a:avLst>
          </a:prstGeom>
          <a:solidFill>
            <a:srgbClr val="12121A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3886200"/>
            <a:ext cx="45720" cy="1463040"/>
          </a:xfrm>
          <a:prstGeom prst="rect">
            <a:avLst>
              <a:gd name="adj" fmla="val 60000"/>
            </a:avLst>
          </a:prstGeom>
          <a:solidFill>
            <a:srgbClr val="00E5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Silence Cost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0" y="44348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MACs during silence periods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10x battery life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revenue streams from a single core technology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331720" cy="2377440"/>
          </a:xfrm>
          <a:prstGeom prst="rect">
            <a:avLst>
              <a:gd name="adj" fmla="val 3137"/>
            </a:avLst>
          </a:prstGeom>
          <a:solidFill>
            <a:srgbClr val="12121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94560"/>
            <a:ext cx="2331720" cy="36576"/>
          </a:xfrm>
          <a:prstGeom prst="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Licensing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$0.01-0.05/chip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3337560"/>
            <a:ext cx="1600200" cy="9144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Per-chip royalty for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 core 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194560"/>
            <a:ext cx="2331720" cy="2377440"/>
          </a:xfrm>
          <a:prstGeom prst="rect">
            <a:avLst>
              <a:gd name="adj" fmla="val 3137"/>
            </a:avLst>
          </a:prstGeom>
          <a:solidFill>
            <a:srgbClr val="121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2194560"/>
            <a:ext cx="2331720" cy="36576"/>
          </a:xfrm>
          <a:prstGeom prst="rect">
            <a:avLst>
              <a:gd name="adj" fmla="val 50000"/>
            </a:avLst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 AI SDK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$500-5K/mo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0" y="3337560"/>
            <a:ext cx="1600200" cy="9144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platform for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model training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2194560"/>
            <a:ext cx="2331720" cy="2377440"/>
          </a:xfrm>
          <a:prstGeom prst="rect">
            <a:avLst>
              <a:gd name="adj" fmla="val 3137"/>
            </a:avLst>
          </a:prstGeom>
          <a:solidFill>
            <a:srgbClr val="12121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06440" y="2194560"/>
            <a:ext cx="2331720" cy="36576"/>
          </a:xfrm>
          <a:prstGeom prst="rect">
            <a:avLst>
              <a:gd name="adj" fmla="val 50000"/>
            </a:avLst>
          </a:prstGeom>
          <a:solidFill>
            <a:srgbClr val="00E676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Wake Word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$10K-50K/project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3337560"/>
            <a:ext cx="1600200" cy="9144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Turnkey custom keyword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solutions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2194560"/>
            <a:ext cx="2331720" cy="2377440"/>
          </a:xfrm>
          <a:prstGeom prst="rect">
            <a:avLst>
              <a:gd name="adj" fmla="val 3137"/>
            </a:avLst>
          </a:prstGeom>
          <a:solidFill>
            <a:srgbClr val="12121A"/>
          </a:solidFill>
          <a:ln/>
        </p:spPr>
      </p:sp>
      <p:sp>
        <p:nvSpPr>
          <p:cNvPr id="27" name="Shape 25"/>
          <p:cNvSpPr/>
          <p:nvPr/>
        </p:nvSpPr>
        <p:spPr>
          <a:xfrm>
            <a:off x="8321040" y="2194560"/>
            <a:ext cx="2331720" cy="36576"/>
          </a:xfrm>
          <a:prstGeom prst="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3774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AI Module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21040" y="2834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 $4.80 / Sell $15-30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0" y="3337560"/>
            <a:ext cx="1600200" cy="9144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474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Ready-to-integrate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module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Riding the edge AI wave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3200400" cy="1188720"/>
          </a:xfrm>
          <a:prstGeom prst="rect">
            <a:avLst>
              <a:gd name="adj" fmla="val 6154"/>
            </a:avLst>
          </a:prstGeom>
          <a:solidFill>
            <a:srgbClr val="12121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286000"/>
            <a:ext cx="32004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$26.8B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Voice Recognition (2025)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2560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55566"/>
                </a:solidFill>
              </a:rPr>
              <a:t>➡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3200400" cy="1188720"/>
          </a:xfrm>
          <a:prstGeom prst="rect">
            <a:avLst>
              <a:gd name="adj" fmla="val 6154"/>
            </a:avLst>
          </a:prstGeom>
          <a:solidFill>
            <a:srgbClr val="12121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2286000"/>
            <a:ext cx="3200400" cy="32004"/>
          </a:xfrm>
          <a:prstGeom prst="rect">
            <a:avLst>
              <a:gd name="adj" fmla="val 57143"/>
            </a:avLst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$50B+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Market (2030)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edge AI: fastest growing segment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Verticals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" y="4389120"/>
            <a:ext cx="182880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89120"/>
            <a:ext cx="18288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 / Smart Home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074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Voice-controlled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appliances &amp; hubs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88920" y="4389120"/>
            <a:ext cx="182880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8920" y="4389120"/>
            <a:ext cx="18288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Automotive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5074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In-cabin voice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4389120"/>
            <a:ext cx="182880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0600" y="4389120"/>
            <a:ext cx="18288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Wearables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5074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Watches, earbuds,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devices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2280" y="4389120"/>
            <a:ext cx="182880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32" name="Shape 30"/>
          <p:cNvSpPr/>
          <p:nvPr/>
        </p:nvSpPr>
        <p:spPr>
          <a:xfrm>
            <a:off x="6812280" y="4389120"/>
            <a:ext cx="18288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5074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floor,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hands-free control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23960" y="4389120"/>
            <a:ext cx="1828800" cy="1371600"/>
          </a:xfrm>
          <a:prstGeom prst="rect">
            <a:avLst>
              <a:gd name="adj" fmla="val 4000"/>
            </a:avLst>
          </a:prstGeom>
          <a:solidFill>
            <a:srgbClr val="12121A"/>
          </a:solidFill>
          <a:ln/>
        </p:spPr>
      </p:sp>
      <p:sp>
        <p:nvSpPr>
          <p:cNvPr id="36" name="Shape 34"/>
          <p:cNvSpPr/>
          <p:nvPr/>
        </p:nvSpPr>
        <p:spPr>
          <a:xfrm>
            <a:off x="8823960" y="4389120"/>
            <a:ext cx="1828800" cy="32004"/>
          </a:xfrm>
          <a:prstGeom prst="rect">
            <a:avLst>
              <a:gd name="adj" fmla="val 57143"/>
            </a:avLst>
          </a:prstGeom>
          <a:solidFill>
            <a:srgbClr val="00E5FF"/>
          </a:solidFill>
          <a:ln/>
        </p:spPr>
      </p:sp>
      <p:sp>
        <p:nvSpPr>
          <p:cNvPr id="37" name="Text 35"/>
          <p:cNvSpPr/>
          <p:nvPr/>
        </p:nvSpPr>
        <p:spPr>
          <a:xfrm>
            <a:off x="8823960" y="44988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23960" y="5074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TVs, remotes,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91440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Traction &amp; Milestones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research to production-ready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640080" cy="411480"/>
          </a:xfrm>
          <a:prstGeom prst="rect">
            <a:avLst>
              <a:gd name="adj" fmla="val 8889"/>
            </a:avLst>
          </a:prstGeom>
          <a:solidFill>
            <a:srgbClr val="12121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 paper submitted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8992" y="2606040"/>
            <a:ext cx="18288" cy="182880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788920"/>
            <a:ext cx="640080" cy="411480"/>
          </a:xfrm>
          <a:prstGeom prst="rect">
            <a:avLst>
              <a:gd name="adj" fmla="val 8889"/>
            </a:avLst>
          </a:prstGeom>
          <a:solidFill>
            <a:srgbClr val="12121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889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CES 2027 demo ready (live inference)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78992" y="3200400"/>
            <a:ext cx="18288" cy="182880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383280"/>
            <a:ext cx="640080" cy="411480"/>
          </a:xfrm>
          <a:prstGeom prst="rect">
            <a:avLst>
              <a:gd name="adj" fmla="val 8889"/>
            </a:avLst>
          </a:prstGeom>
          <a:solidFill>
            <a:srgbClr val="12121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+ KR patent applications filed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794760"/>
            <a:ext cx="18288" cy="182880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77640"/>
            <a:ext cx="640080" cy="411480"/>
          </a:xfrm>
          <a:prstGeom prst="rect">
            <a:avLst>
              <a:gd name="adj" fmla="val 8889"/>
            </a:avLst>
          </a:prstGeom>
          <a:solidFill>
            <a:srgbClr val="12121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C SDK for ARM Cortex-M7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78992" y="4389120"/>
            <a:ext cx="18288" cy="182880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572000"/>
            <a:ext cx="640080" cy="411480"/>
          </a:xfrm>
          <a:prstGeom prst="rect">
            <a:avLst>
              <a:gd name="adj" fmla="val 8889"/>
            </a:avLst>
          </a:prstGeom>
          <a:solidFill>
            <a:srgbClr val="12121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5720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FPGA implementation complete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78992" y="4983480"/>
            <a:ext cx="18288" cy="182880"/>
          </a:xfrm>
          <a:prstGeom prst="rect">
            <a:avLst/>
          </a:prstGeom>
          <a:solidFill>
            <a:srgbClr val="555566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166360"/>
            <a:ext cx="640080" cy="411480"/>
          </a:xfrm>
          <a:prstGeom prst="rect">
            <a:avLst>
              <a:gd name="adj" fmla="val 8889"/>
            </a:avLst>
          </a:prstGeom>
          <a:solidFill>
            <a:srgbClr val="12121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1663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5166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 community on GitHub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0" y="2194560"/>
            <a:ext cx="3474720" cy="3474720"/>
          </a:xfrm>
          <a:prstGeom prst="rect">
            <a:avLst>
              <a:gd name="adj" fmla="val 2105"/>
            </a:avLst>
          </a:prstGeom>
          <a:solidFill>
            <a:srgbClr val="12121A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0" y="2194560"/>
            <a:ext cx="347472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Portfolio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 Architecture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DualPCEN Front-end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Noise-Conditioning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Mechanisms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SSM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 Method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Silence-Aware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9144000" cy="320040"/>
          </a:xfrm>
          <a:prstGeom prst="rect">
            <a:avLst/>
          </a:prstGeom>
          <a:solidFill>
            <a:srgbClr val="1212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0"/>
            <a:ext cx="73152" cy="9144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8288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Noise-Robust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AI Today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NC-SSM: 7,443 params. 7.1ms latency. Runs on a $5 chip.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5029200" cy="2011680"/>
          </a:xfrm>
          <a:prstGeom prst="rect">
            <a:avLst>
              <a:gd name="adj" fmla="val 3636"/>
            </a:avLst>
          </a:prstGeom>
          <a:solidFill>
            <a:srgbClr val="12121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931920"/>
            <a:ext cx="50292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Jin Ho Choi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 Project Lead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github.com/nc-ssm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5230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 | CES 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55229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+ KR Patent Pending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4114800" cy="548640"/>
          </a:xfrm>
          <a:prstGeom prst="rect">
            <a:avLst>
              <a:gd name="adj" fmla="val 10000"/>
            </a:avLst>
          </a:prstGeom>
          <a:solidFill>
            <a:srgbClr val="12121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Demo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4617720"/>
            <a:ext cx="4114800" cy="548640"/>
          </a:xfrm>
          <a:prstGeom prst="rect">
            <a:avLst>
              <a:gd name="adj" fmla="val 10000"/>
            </a:avLst>
          </a:prstGeom>
          <a:solidFill>
            <a:srgbClr val="12121A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617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License the IP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5303520"/>
            <a:ext cx="4114800" cy="548640"/>
          </a:xfrm>
          <a:prstGeom prst="rect">
            <a:avLst>
              <a:gd name="adj" fmla="val 10000"/>
            </a:avLst>
          </a:prstGeom>
          <a:solidFill>
            <a:srgbClr val="12121A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303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SDK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NC-SSM Pitch Deck</dc:title>
  <dc:subject>PptxGenJS Presentation</dc:subject>
  <dc:creator>NC-SSM Project</dc:creator>
  <cp:lastModifiedBy>NC-SSM Project</cp:lastModifiedBy>
  <cp:revision>1</cp:revision>
  <dcterms:created xsi:type="dcterms:W3CDTF">2026-03-28T13:40:43Z</dcterms:created>
  <dcterms:modified xsi:type="dcterms:W3CDTF">2026-03-28T13:40:43Z</dcterms:modified>
</cp:coreProperties>
</file>